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1D9BF0"/>
              </a:gs>
              <a:gs pos="100000">
                <a:srgbClr val="00C9A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5349240"/>
            <a:ext cx="1005840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320040"/>
            <a:ext cx="1920240" cy="36576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93808" y="329184"/>
            <a:ext cx="1883664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NLP · ML ·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BrandPulse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788920"/>
            <a:ext cx="5029200" cy="54864"/>
          </a:xfrm>
          <a:prstGeom prst="rect">
            <a:avLst/>
          </a:prstGeom>
          <a:gradFill rotWithShape="1">
            <a:gsLst>
              <a:gs pos="0">
                <a:srgbClr val="1D9BF0"/>
              </a:gs>
              <a:gs pos="100000">
                <a:srgbClr val="00C9A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A8B2C1"/>
                </a:solidFill>
                <a:latin typeface="Calibri"/>
              </a:rPr>
              <a:t>Twitter Sentiment Analysis  ·  End-to-End NLP Pipeline &amp;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669280"/>
            <a:ext cx="2286000" cy="384048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5669280"/>
            <a:ext cx="54864" cy="38404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687568"/>
            <a:ext cx="217627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TF-IDF + Logistic Reg.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5669280"/>
            <a:ext cx="2286000" cy="384048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5669280"/>
            <a:ext cx="54864" cy="384048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687568"/>
            <a:ext cx="217627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LSTM · Keras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5669280"/>
            <a:ext cx="2286000" cy="384048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5669280"/>
            <a:ext cx="54864" cy="384048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5687568"/>
            <a:ext cx="217627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Streamlit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1">
                <a:solidFill>
                  <a:srgbClr val="2A3544"/>
                </a:solidFill>
                <a:latin typeface="Calibri"/>
              </a:rPr>
              <a:t>Data Science Portfolio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FF4D6D"/>
              </a:gs>
              <a:gs pos="100000">
                <a:srgbClr val="1D9BF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28600"/>
            <a:ext cx="1005840" cy="347472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23774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8B2C1"/>
                </a:solidFill>
                <a:latin typeface="Calibri"/>
              </a:rPr>
              <a:t>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4D6D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56692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Why does airline
sentiment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30352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3035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A8B2C1"/>
                </a:solidFill>
                <a:latin typeface="Calibri"/>
              </a:rPr>
              <a:t>Airlines receive thousands of public tweets every day across platforms.</a:t>
            </a:r>
          </a:p>
          <a:p>
            <a:pPr algn="l"/>
            <a:r>
              <a:rPr sz="600" b="0" i="0">
                <a:solidFill>
                  <a:srgbClr val="A8B2C1"/>
                </a:solidFill>
                <a:latin typeface="Calibri"/>
              </a:rPr>
              <a:t> </a:t>
            </a:r>
          </a:p>
          <a:p>
            <a:pPr algn="l"/>
            <a:r>
              <a:rPr sz="1500" b="0" i="0">
                <a:solidFill>
                  <a:srgbClr val="A8B2C1"/>
                </a:solidFill>
                <a:latin typeface="Calibri"/>
              </a:rPr>
              <a:t>Without automated tools, identifying patterns in negative feedback—delayed flights, lost baggage, poor service—is virtually impossible at scale.</a:t>
            </a:r>
          </a:p>
          <a:p>
            <a:pPr algn="l"/>
            <a:r>
              <a:rPr sz="600" b="0" i="0">
                <a:solidFill>
                  <a:srgbClr val="A8B2C1"/>
                </a:solidFill>
                <a:latin typeface="Calibri"/>
              </a:rPr>
              <a:t> 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BrandPulse AI addresses this by classifying tweet sentiment in real time, enabling data-driven brand management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822960"/>
            <a:ext cx="5212080" cy="155448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822960"/>
            <a:ext cx="64008" cy="155448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005840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D9BF0"/>
                </a:solidFill>
                <a:latin typeface="Calibri"/>
              </a:rPr>
              <a:t>~14,640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27632"/>
            <a:ext cx="4846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B2C1"/>
                </a:solidFill>
                <a:latin typeface="Calibri"/>
              </a:rPr>
              <a:t>labelled tweets in
the training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560320"/>
            <a:ext cx="5212080" cy="155448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560320"/>
            <a:ext cx="64008" cy="15544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4D6D"/>
                </a:solidFill>
                <a:latin typeface="Calibri"/>
              </a:rPr>
              <a:t>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64992"/>
            <a:ext cx="4846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B2C1"/>
                </a:solidFill>
                <a:latin typeface="Calibri"/>
              </a:rPr>
              <a:t>of tweets carry
negative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297680"/>
            <a:ext cx="5212080" cy="155448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297680"/>
            <a:ext cx="64008" cy="1554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4846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0C9A7"/>
                </a:solidFill>
                <a:latin typeface="Calibri"/>
              </a:rPr>
              <a:t>3-class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02352"/>
            <a:ext cx="4846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B2C1"/>
                </a:solidFill>
                <a:latin typeface="Calibri"/>
              </a:rPr>
              <a:t>labels: positive,
neutral, negative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00C9A7"/>
              </a:gs>
              <a:gs pos="100000">
                <a:srgbClr val="1D9BF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28600"/>
            <a:ext cx="1005840" cy="347472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23774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8B2C1"/>
                </a:solidFill>
                <a:latin typeface="Calibri"/>
              </a:rPr>
              <a:t>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NLP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12-Stage Text Processing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33856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55064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Input Coercion &amp; NaN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11096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Safely converts None/NaN to empty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68296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68296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1343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HTML Entity Decoding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24328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&amp;amp; → &amp;,  &amp;lt; → &lt;,  &amp;#39; → 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81528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81528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26664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Unicode Normalisation (NFKD)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37560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Strips accents; resolves ligatures like fi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39896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Lowercasing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2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Uniform case for consistent tokenisation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07992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07992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53128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Contraction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64024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can't → can not  |  won't → will not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21224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21224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16636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URL Removal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477256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Strips http/https/www links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655064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655064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160020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Handle Removal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911096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@username tokens removed entirely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368296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368296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31343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Hashtag Retention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624328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#delay → delay  (keyword preserved)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81528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081528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026664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Number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337560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Digit sequences stripped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794760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794760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739896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Special-Char Removal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050792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Keeps only [a-z] and spaces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507992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507992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453128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Whitespace Normalisation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764024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Collapses multiple spaces, strips edges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221224"/>
            <a:ext cx="420624" cy="42062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5221224"/>
            <a:ext cx="420624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16636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Stop-word Removal + Lemmatisation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477256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2C1"/>
                </a:solidFill>
                <a:latin typeface="Calibri"/>
              </a:rPr>
              <a:t>spaCy primary  |  NLTK fallback; negation words KEPT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053328"/>
            <a:ext cx="11338560" cy="594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080760"/>
            <a:ext cx="11064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00C9A7"/>
                </a:solidFill>
                <a:latin typeface="Consolas"/>
              </a:rPr>
              <a:t>tp.clean("@AmericanAir can't believe #cancelled! http://t.co/x")   →   "american air not believe cancel"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1D9BF0"/>
              </a:gs>
              <a:gs pos="100000">
                <a:srgbClr val="A25F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28600"/>
            <a:ext cx="1005840" cy="347472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23774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8B2C1"/>
                </a:solidFill>
                <a:latin typeface="Calibri"/>
              </a:rP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D9BF0"/>
                </a:solidFill>
                <a:latin typeface="Calibri"/>
              </a:rPr>
              <a:t>MODELLING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Classical ML vs.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33856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394960" cy="489204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394960" cy="54864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D9BF0"/>
                </a:solidFill>
                <a:latin typeface="Calibri"/>
              </a:rPr>
              <a:t>Classical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A8B2C1"/>
                </a:solidFill>
                <a:latin typeface="Calibri"/>
              </a:rPr>
              <a:t>TF-IDF + Logistic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61488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Vectorisation via TF-IDF (unigrams + bigrams)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82112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72384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Logistic Regression classifier (multi-class)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02736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93008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Pipeline serialised with joblib for inference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13632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Training: notebooks/01_Preprocessing_and_Classical.ipynb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43984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34256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Interpretable — coefficient weights per token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64608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754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Saved artefact: classical_tfidf_pipeline.joblib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600200"/>
            <a:ext cx="5486400" cy="489204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600200"/>
            <a:ext cx="5486400" cy="54864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A25FFF"/>
                </a:solidFill>
                <a:latin typeface="Calibri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1488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A8B2C1"/>
                </a:solidFill>
                <a:latin typeface="Calibri"/>
              </a:rPr>
              <a:t>LSTM (Long Short-Term Memory) · Keras / TensorFlow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761488"/>
            <a:ext cx="91440" cy="9144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651760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Embedding layer (trainable word vectors)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182112"/>
            <a:ext cx="91440" cy="9144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072384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Stacked LSTM units with dropout regularisation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602736"/>
            <a:ext cx="91440" cy="9144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Softmax output over 3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023360"/>
            <a:ext cx="91440" cy="9144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913632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Training: notebooks/02_DeepLearning_LSTM.ipynb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443984"/>
            <a:ext cx="91440" cy="9144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334256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Tokeniser vocabulary: tokenizer.json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864608"/>
            <a:ext cx="91440" cy="9144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754880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Saved artefact: lstm_model.keras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566160"/>
            <a:ext cx="548640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0" y="3566160"/>
            <a:ext cx="548640" cy="548640"/>
          </a:xfrm>
          <a:prstGeom prst="rect">
            <a:avLst/>
          </a:prstGeom>
          <a:noFill/>
          <a:ln w="19050">
            <a:solidFill>
              <a:srgbClr val="2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35661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A8B2C1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00C9A7"/>
              </a:gs>
              <a:gs pos="100000">
                <a:srgbClr val="1D9BF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28600"/>
            <a:ext cx="1005840" cy="347472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23774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8B2C1"/>
                </a:solidFill>
                <a:latin typeface="Calibri"/>
              </a:rP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INTERACTIVE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Streamlit App — Live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33856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1737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657600" cy="5029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83080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Live Tweet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12848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Paste any tweet and get real-time
sentiment prediction from both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657600" cy="1737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657600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83080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Model Toggle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12848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Switch between TF-IDF/LR pipeline
and LSTM with a single click.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3657600" cy="1737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645920"/>
            <a:ext cx="3657600" cy="5029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783080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Confidence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12848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Probability breakdown per class
displayed as a bar chart.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3657600" cy="1737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3657600" cy="5029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749040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Batch CSV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78808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Upload a CSV of tweets and get a
summary report with visualisations.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611880"/>
            <a:ext cx="3657600" cy="1737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611880"/>
            <a:ext cx="3657600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49040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Sentiment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178808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Interactive Plotly chart showing
positive / neutral / negative split.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611880"/>
            <a:ext cx="3657600" cy="1737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611880"/>
            <a:ext cx="3657600" cy="5029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3749040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Word-cloud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178808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Visualise the most frequent tokens
per sentiment class.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35040"/>
            <a:ext cx="11338560" cy="594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71616"/>
            <a:ext cx="10972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00C9A7"/>
                </a:solidFill>
                <a:latin typeface="Consolas"/>
              </a:rPr>
              <a:t>$ streamlit run app.py     →     http://localhost:8501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1D9BF0"/>
              </a:gs>
              <a:gs pos="100000">
                <a:srgbClr val="00C9A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28600"/>
            <a:ext cx="1005840" cy="347472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23774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8B2C1"/>
                </a:solidFill>
                <a:latin typeface="Calibri"/>
              </a:rP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D9BF0"/>
                </a:solidFill>
                <a:latin typeface="Calibri"/>
              </a:rPr>
              <a:t>RESULTS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Model Performance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33856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303520" cy="155448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64008" cy="155448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A8B2C1"/>
                </a:solidFill>
                <a:latin typeface="Calibri"/>
              </a:rPr>
              <a:t>TF-IDF + LR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1D9BF0"/>
                </a:solidFill>
                <a:latin typeface="Calibri"/>
              </a:rPr>
              <a:t>~79%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317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Macro-avg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5303520" cy="155448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00200"/>
            <a:ext cx="64008" cy="1554480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64208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A8B2C1"/>
                </a:solidFill>
                <a:latin typeface="Calibri"/>
              </a:rPr>
              <a:t>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29968"/>
            <a:ext cx="4937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A25FFF"/>
                </a:solidFill>
                <a:latin typeface="Calibri"/>
              </a:rPr>
              <a:t>~82%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3317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Macro-avg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58767"/>
            <a:ext cx="91440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Contraction expansion (+2% F1 on negative class — preserving negation tokens matters)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79391"/>
            <a:ext cx="91440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9663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LSTM outperforms classical model on long/noisy tweets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00015"/>
            <a:ext cx="91440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0287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spaCy lemmatisation reduces vocab size by ~30% without information loss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39"/>
            <a:ext cx="91440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10911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Class imbalance (63% negative) handled via class_weight='balanced'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375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58767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749039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Fine-tune a RoBERTa / BERTweet transformer on the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279391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69663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Expand to multi-lingual tweets (Spanish, French)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700015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590287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Real-time Twitter stream ingestion via Tweepy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120639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010911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Aspect-based sentiment (flight delay, staff, food, etc.)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541263"/>
            <a:ext cx="91440" cy="9144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431535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8B2C1"/>
                </a:solidFill>
                <a:latin typeface="Calibri"/>
              </a:rPr>
              <a:t>Deploy dashboard to Streamlit Cloud / Hugging Face Spaces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337560"/>
            <a:ext cx="22860" cy="31089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00C9A7"/>
              </a:gs>
              <a:gs pos="100000">
                <a:srgbClr val="1D9BF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28600"/>
            <a:ext cx="1005840" cy="347472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23774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A8B2C1"/>
                </a:solidFill>
                <a:latin typeface="Calibri"/>
              </a:rP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Tools, Libraries &amp;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338560" cy="22860"/>
          </a:xfrm>
          <a:prstGeom prst="rect">
            <a:avLst/>
          </a:prstGeom>
          <a:solidFill>
            <a:srgbClr val="2A3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182880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657600" cy="5029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9BF0"/>
                </a:solidFill>
                <a:latin typeface="Calibri"/>
              </a:rPr>
              <a:t>Data &amp;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21992"/>
            <a:ext cx="73152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pandas ≥ 2.1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87752"/>
            <a:ext cx="73152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numpy ≥ 1.26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53512"/>
            <a:ext cx="73152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6207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Kaggle Twitter Airline Dataset (14 K tweets)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00200"/>
            <a:ext cx="3657600" cy="182880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600200"/>
            <a:ext cx="3657600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6916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NLP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2221992"/>
            <a:ext cx="731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13055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spaCy 3.7+  (primary lemmatiser)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587752"/>
            <a:ext cx="731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49631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NLTK 3.8+  (fallback stopwords + lemmatiser)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953512"/>
            <a:ext cx="731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86207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12-stage custom preprocessing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600200"/>
            <a:ext cx="3657600" cy="182880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600200"/>
            <a:ext cx="3657600" cy="5029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6916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D9BF0"/>
                </a:solidFill>
                <a:latin typeface="Calibri"/>
              </a:rPr>
              <a:t>Classical 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221992"/>
            <a:ext cx="73152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213055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scikit-learn ≥ 1.4 (TF-IDF, LogReg)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2587752"/>
            <a:ext cx="73152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49631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joblib ≥ 1.3 (model serialisation)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2953512"/>
            <a:ext cx="73152" cy="73152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86207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TF-IDF bigrams + class_weight balancing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11880"/>
            <a:ext cx="3657600" cy="182880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611880"/>
            <a:ext cx="3657600" cy="5029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7033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A25FFF"/>
                </a:solidFill>
                <a:latin typeface="Calibri"/>
              </a:rPr>
              <a:t>Deep Learning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233672"/>
            <a:ext cx="73152" cy="7315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4223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TensorFlow / Keras ≥ 2.16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599432"/>
            <a:ext cx="73152" cy="7315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50799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LSTM + Embedding layers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965192"/>
            <a:ext cx="73152" cy="7315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87375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Keras Tokenizer (tokenizer.json)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611880"/>
            <a:ext cx="3657600" cy="182880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611880"/>
            <a:ext cx="3657600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37033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Visualisation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80" y="4233672"/>
            <a:ext cx="731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414223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Matplotlib · Seaborn · Plotly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26280" y="4599432"/>
            <a:ext cx="731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50799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WordCloud 1.9+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965192"/>
            <a:ext cx="731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487375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Embedded inside Streamlit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611880"/>
            <a:ext cx="3657600" cy="182880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3611880"/>
            <a:ext cx="3657600" cy="5029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8200" y="37033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A25FFF"/>
                </a:solidFill>
                <a:latin typeface="Calibri"/>
              </a:rPr>
              <a:t>App &amp; Deployment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4233672"/>
            <a:ext cx="73152" cy="7315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414223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Streamlit ≥ 1.32 (interactive dashboard)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58200" y="4599432"/>
            <a:ext cx="73152" cy="7315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0" y="450799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Python 3.10+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4965192"/>
            <a:ext cx="73152" cy="73152"/>
          </a:xfrm>
          <a:prstGeom prst="rect">
            <a:avLst/>
          </a:prstGeom>
          <a:solidFill>
            <a:srgbClr val="A2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4873752"/>
            <a:ext cx="331012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2C1"/>
                </a:solidFill>
                <a:latin typeface="Calibri"/>
              </a:rPr>
              <a:t>Jupyter Notebooks (training workflow)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035040"/>
            <a:ext cx="11338560" cy="594360"/>
          </a:xfrm>
          <a:prstGeom prst="rect">
            <a:avLst/>
          </a:prstGeom>
          <a:solidFill>
            <a:srgbClr val="16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BrandPulse AI — End-to-End NLP · From raw tweets to real-time brand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